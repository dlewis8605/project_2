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800" b="1">
                <a:solidFill>
                  <a:srgbClr val="A855F7"/>
                </a:solidFill>
                <a:latin typeface="Arial"/>
              </a:defRPr>
            </a:pPr>
            <a:r>
              <a:t>AURA — UX/UI Asset Catalog</a:t>
            </a:r>
          </a:p>
          <a:p>
            <a:pPr>
              <a:spcAft>
                <a:spcPts val="4000"/>
              </a:spcAft>
              <a:defRPr sz="2200">
                <a:solidFill>
                  <a:srgbClr val="F3F1FE"/>
                </a:solidFill>
                <a:latin typeface="Calibri"/>
              </a:defRPr>
            </a:pPr>
            <a:r>
              <a:t>A Curated Digital Asset Repository for Web Creators</a:t>
            </a:r>
          </a:p>
          <a:p>
            <a:pPr>
              <a:lnSpc>
                <a:spcPct val="130000"/>
              </a:lnSpc>
              <a:defRPr sz="1600">
                <a:solidFill>
                  <a:srgbClr val="9F9BBF"/>
                </a:solidFill>
                <a:latin typeface="Calibri"/>
              </a:defRPr>
            </a:pPr>
            <a:r>
              <a:t>Student Name: Darell Lewis</a:t>
            </a:r>
            <a:br/>
            <a:r>
              <a:t>Course: Web Development II (Back-End)</a:t>
            </a:r>
            <a:br/>
            <a:r>
              <a:t>Instructor: Westcliff Course Reviewer</a:t>
            </a:r>
            <a:br/>
            <a:r>
              <a:t>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C4899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Arial"/>
              </a:defRPr>
            </a:pPr>
            <a:r>
              <a:t>Introduction &amp; Project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b="1">
                <a:solidFill>
                  <a:srgbClr val="F3F1FE"/>
                </a:solidFill>
              </a:rPr>
              <a:t>The Challenge: </a:t>
            </a:r>
            <a:r>
              <a:rPr>
                <a:solidFill>
                  <a:srgbClr val="9F9BBF"/>
                </a:solidFill>
              </a:rPr>
              <a:t>Web developers waste countless hours reinventing common UI design elements (buttons, glassmorphic panels, gradients, color palettes).</a:t>
            </a:r>
          </a:p>
          <a:p>
            <a:pPr>
              <a:spcAft>
                <a:spcPts val="800"/>
              </a:spcAft>
              <a:defRPr sz="2000"/>
            </a:pPr>
            <a:r>
              <a:rPr b="1">
                <a:solidFill>
                  <a:srgbClr val="F3F1FE"/>
                </a:solidFill>
              </a:rPr>
              <a:t>The Solution (AURA): </a:t>
            </a:r>
            <a:r>
              <a:rPr>
                <a:solidFill>
                  <a:srgbClr val="9F9BBF"/>
                </a:solidFill>
              </a:rPr>
              <a:t>A secure, lightning-fast database-driven asset catalog that lets creators browse, preview, copy, and save curated web assets.</a:t>
            </a:r>
          </a:p>
          <a:p>
            <a:pPr>
              <a:spcAft>
                <a:spcPts val="800"/>
              </a:spcAft>
              <a:defRPr sz="2000"/>
            </a:pPr>
            <a:r>
              <a:rPr b="1">
                <a:solidFill>
                  <a:srgbClr val="F3F1FE"/>
                </a:solidFill>
              </a:rPr>
              <a:t>Key Goals &amp; Objectives: </a:t>
            </a:r>
          </a:p>
          <a:p>
            <a:pPr>
              <a:spcAft>
                <a:spcPts val="8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  • Centralized Catalog:</a:t>
            </a:r>
            <a:r>
              <a:rPr>
                <a:solidFill>
                  <a:srgbClr val="9F9BBF"/>
                </a:solidFill>
              </a:rPr>
              <a:t>Efficiently store and organize HTML/CSS/SASS and SVG assets by categories and tags.</a:t>
            </a:r>
          </a:p>
          <a:p>
            <a:pPr>
              <a:spcAft>
                <a:spcPts val="8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  • User Personalization:</a:t>
            </a:r>
            <a:r>
              <a:rPr>
                <a:solidFill>
                  <a:srgbClr val="9F9BBF"/>
                </a:solidFill>
              </a:rPr>
              <a:t>Allow developers to register, sign in, and maintain a curated dashboard of favorited design snippets.</a:t>
            </a:r>
          </a:p>
          <a:p>
            <a:pPr>
              <a:spcAft>
                <a:spcPts val="8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  • Robust Data Integrity:</a:t>
            </a:r>
            <a:r>
              <a:rPr>
                <a:solidFill>
                  <a:srgbClr val="9F9BBF"/>
                </a:solidFill>
              </a:rPr>
              <a:t>Facilitate community contributions through strict server-side validation and sanitization.</a:t>
            </a:r>
          </a:p>
          <a:p>
            <a:pPr>
              <a:spcAft>
                <a:spcPts val="8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  • Performance &amp; Portability:</a:t>
            </a:r>
            <a:r>
              <a:rPr>
                <a:solidFill>
                  <a:srgbClr val="9F9BBF"/>
                </a:solidFill>
              </a:rPr>
              <a:t>Utilize Progressive Web App (PWA) strategies for offline catalog access and seamless installation.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C4899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Arial"/>
              </a:defRPr>
            </a:pPr>
            <a:r>
              <a:t>Modern Stack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3291840" cy="3931920"/>
          </a:xfrm>
          <a:prstGeom prst="roundRect">
            <a:avLst/>
          </a:prstGeom>
          <a:solidFill>
            <a:srgbClr val="1410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A855F7"/>
                </a:solidFill>
                <a:latin typeface="Arial"/>
              </a:defRPr>
            </a:pPr>
            <a:r>
              <a:t>FRONT-END</a:t>
            </a:r>
          </a:p>
          <a:p>
            <a:pPr>
              <a:spcBef>
                <a:spcPts val="8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Vue.js CDN (Client Engine)</a:t>
            </a:r>
          </a:p>
          <a:p>
            <a:pPr>
              <a:spcAft>
                <a:spcPts val="400"/>
              </a:spcAft>
              <a:defRPr sz="1400">
                <a:solidFill>
                  <a:srgbClr val="9F9BBF"/>
                </a:solidFill>
                <a:latin typeface="Calibri"/>
              </a:defRPr>
            </a:pPr>
            <a:r>
              <a:t>  Handles reactive search filter &amp; copy events instantly</a:t>
            </a:r>
          </a:p>
          <a:p>
            <a:pPr>
              <a:spcBef>
                <a:spcPts val="8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SASS Custom Variables</a:t>
            </a:r>
          </a:p>
          <a:p>
            <a:pPr>
              <a:spcAft>
                <a:spcPts val="400"/>
              </a:spcAft>
              <a:defRPr sz="1400">
                <a:solidFill>
                  <a:srgbClr val="9F9BBF"/>
                </a:solidFill>
                <a:latin typeface="Calibri"/>
              </a:defRPr>
            </a:pPr>
            <a:r>
              <a:t>  Provides glassmorphism tokens and radial orb animations</a:t>
            </a:r>
          </a:p>
          <a:p>
            <a:pPr>
              <a:spcBef>
                <a:spcPts val="8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Bootstrap 4 Framework</a:t>
            </a:r>
          </a:p>
          <a:p>
            <a:pPr>
              <a:spcAft>
                <a:spcPts val="400"/>
              </a:spcAft>
              <a:defRPr sz="1400">
                <a:solidFill>
                  <a:srgbClr val="9F9BBF"/>
                </a:solidFill>
                <a:latin typeface="Calibri"/>
              </a:defRPr>
            </a:pPr>
            <a:r>
              <a:t>  Ensures fluid responsive grids across devices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931920"/>
          </a:xfrm>
          <a:prstGeom prst="roundRect">
            <a:avLst/>
          </a:prstGeom>
          <a:solidFill>
            <a:srgbClr val="141026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19456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EC4899"/>
                </a:solidFill>
                <a:latin typeface="Arial"/>
              </a:defRPr>
            </a:pPr>
            <a:r>
              <a:t>BACK-END RUNTIME</a:t>
            </a:r>
          </a:p>
          <a:p>
            <a:pPr>
              <a:spcBef>
                <a:spcPts val="8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Node.js &amp; Express.js</a:t>
            </a:r>
          </a:p>
          <a:p>
            <a:pPr>
              <a:spcAft>
                <a:spcPts val="400"/>
              </a:spcAft>
              <a:defRPr sz="1400">
                <a:solidFill>
                  <a:srgbClr val="9F9BBF"/>
                </a:solidFill>
                <a:latin typeface="Calibri"/>
              </a:defRPr>
            </a:pPr>
            <a:r>
              <a:t>  Lightweight, asynchronous event-driven server runtime</a:t>
            </a:r>
          </a:p>
          <a:p>
            <a:pPr>
              <a:spcBef>
                <a:spcPts val="8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express-session &amp; cookies</a:t>
            </a:r>
          </a:p>
          <a:p>
            <a:pPr>
              <a:spcAft>
                <a:spcPts val="400"/>
              </a:spcAft>
              <a:defRPr sz="1400">
                <a:solidFill>
                  <a:srgbClr val="9F9BBF"/>
                </a:solidFill>
                <a:latin typeface="Calibri"/>
              </a:defRPr>
            </a:pPr>
            <a:r>
              <a:t>  Maintains stateful user credentials securely</a:t>
            </a:r>
          </a:p>
          <a:p>
            <a:pPr>
              <a:spcBef>
                <a:spcPts val="8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BCryptJS Hashing</a:t>
            </a:r>
          </a:p>
          <a:p>
            <a:pPr>
              <a:spcAft>
                <a:spcPts val="400"/>
              </a:spcAft>
              <a:defRPr sz="1400">
                <a:solidFill>
                  <a:srgbClr val="9F9BBF"/>
                </a:solidFill>
                <a:latin typeface="Calibri"/>
              </a:defRPr>
            </a:pPr>
            <a:r>
              <a:t>  Protects stored user passwords with cryptographic salting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011680"/>
            <a:ext cx="3291840" cy="3931920"/>
          </a:xfrm>
          <a:prstGeom prst="roundRect">
            <a:avLst/>
          </a:prstGeom>
          <a:solidFill>
            <a:srgbClr val="141026"/>
          </a:solidFill>
          <a:ln w="19050">
            <a:solidFill>
              <a:srgbClr val="9F9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19456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3F1FE"/>
                </a:solidFill>
                <a:latin typeface="Arial"/>
              </a:defRPr>
            </a:pPr>
            <a:r>
              <a:t>DATABASE &amp; SECURITY</a:t>
            </a:r>
          </a:p>
          <a:p>
            <a:pPr>
              <a:spcBef>
                <a:spcPts val="8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MongoDB (NoSQL Database)</a:t>
            </a:r>
          </a:p>
          <a:p>
            <a:pPr>
              <a:spcAft>
                <a:spcPts val="400"/>
              </a:spcAft>
              <a:defRPr sz="1400">
                <a:solidFill>
                  <a:srgbClr val="9F9BBF"/>
                </a:solidFill>
                <a:latin typeface="Calibri"/>
              </a:defRPr>
            </a:pPr>
            <a:r>
              <a:t>  Document store tailored for dynamic schema objects</a:t>
            </a:r>
          </a:p>
          <a:p>
            <a:pPr>
              <a:spcBef>
                <a:spcPts val="8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Mongoose ODM</a:t>
            </a:r>
          </a:p>
          <a:p>
            <a:pPr>
              <a:spcAft>
                <a:spcPts val="400"/>
              </a:spcAft>
              <a:defRPr sz="1400">
                <a:solidFill>
                  <a:srgbClr val="9F9BBF"/>
                </a:solidFill>
                <a:latin typeface="Calibri"/>
              </a:defRPr>
            </a:pPr>
            <a:r>
              <a:t>  Declares schema constraints &amp; data integrity models</a:t>
            </a:r>
          </a:p>
          <a:p>
            <a:pPr>
              <a:spcBef>
                <a:spcPts val="8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OWASP Middleware</a:t>
            </a:r>
          </a:p>
          <a:p>
            <a:pPr>
              <a:spcAft>
                <a:spcPts val="400"/>
              </a:spcAft>
              <a:defRPr sz="1400">
                <a:solidFill>
                  <a:srgbClr val="9F9BBF"/>
                </a:solidFill>
                <a:latin typeface="Calibri"/>
              </a:defRPr>
            </a:pPr>
            <a:r>
              <a:t>  Helmet security headers, rate limiting, and mongo-sanitizer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C4899"/>
                </a:solidFill>
                <a:latin typeface="Calibri"/>
              </a:defRPr>
            </a:pPr>
            <a:r>
              <a:t>DATA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Arial"/>
              </a:defRPr>
            </a:pPr>
            <a:r>
              <a:t>Mongoose Database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120640" cy="4206240"/>
          </a:xfrm>
          <a:prstGeom prst="roundRect">
            <a:avLst/>
          </a:prstGeom>
          <a:solidFill>
            <a:srgbClr val="1410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A855F7"/>
                </a:solidFill>
                <a:latin typeface="Arial"/>
              </a:defRPr>
            </a:pPr>
            <a:r>
              <a:t>User Model Schema</a:t>
            </a:r>
          </a:p>
          <a:p>
            <a:pPr>
              <a:spcAft>
                <a:spcPts val="300"/>
              </a:spcAft>
              <a:defRPr sz="1400">
                <a:solidFill>
                  <a:srgbClr val="9F9BBF"/>
                </a:solidFill>
                <a:latin typeface="Calibri"/>
              </a:defRPr>
            </a:pPr>
            <a:r>
              <a:t>Stores details of creators &amp; catalog members.</a:t>
            </a:r>
          </a:p>
          <a:p>
            <a:pPr>
              <a:spcBef>
                <a:spcPts val="6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username: String (Unique, required, min 5 chars)</a:t>
            </a:r>
          </a:p>
          <a:p>
            <a:pPr>
              <a:spcBef>
                <a:spcPts val="6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email: String (Unique, required, lowercased, regex validated)</a:t>
            </a:r>
          </a:p>
          <a:p>
            <a:pPr>
              <a:spcBef>
                <a:spcPts val="6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password: String (Hashed via bcrypt salt values)</a:t>
            </a:r>
          </a:p>
          <a:p>
            <a:pPr>
              <a:spcBef>
                <a:spcPts val="6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favorites: [ ObjectId ] (Array referencing Asset documents)</a:t>
            </a:r>
          </a:p>
          <a:p>
            <a:pPr>
              <a:spcBef>
                <a:spcPts val="6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createdAt: Date (Auto-generated timestamp)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828800"/>
            <a:ext cx="5120640" cy="4206240"/>
          </a:xfrm>
          <a:prstGeom prst="roundRect">
            <a:avLst/>
          </a:prstGeom>
          <a:solidFill>
            <a:srgbClr val="141026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EC4899"/>
                </a:solidFill>
                <a:latin typeface="Arial"/>
              </a:defRPr>
            </a:pPr>
            <a:r>
              <a:t>Asset Model Schema</a:t>
            </a:r>
          </a:p>
          <a:p>
            <a:pPr>
              <a:spcAft>
                <a:spcPts val="300"/>
              </a:spcAft>
              <a:defRPr sz="1400">
                <a:solidFill>
                  <a:srgbClr val="9F9BBF"/>
                </a:solidFill>
                <a:latin typeface="Calibri"/>
              </a:defRPr>
            </a:pPr>
            <a:r>
              <a:t>Houses metadata &amp; code contents for snippets.</a:t>
            </a:r>
          </a:p>
          <a:p>
            <a:pPr>
              <a:spcBef>
                <a:spcPts val="6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title: String (Required, trimmed, min 3 chars)</a:t>
            </a:r>
          </a:p>
          <a:p>
            <a:pPr>
              <a:spcBef>
                <a:spcPts val="6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description: String (Required text explanation)</a:t>
            </a:r>
          </a:p>
          <a:p>
            <a:pPr>
              <a:spcBef>
                <a:spcPts val="6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category: String (Enum: css, sass, palette, svg, other)</a:t>
            </a:r>
          </a:p>
          <a:p>
            <a:pPr>
              <a:spcBef>
                <a:spcPts val="6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code: String (Raw code snippet text)</a:t>
            </a:r>
          </a:p>
          <a:p>
            <a:pPr>
              <a:spcBef>
                <a:spcPts val="6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tags: [ String ] (Array of search tokens)</a:t>
            </a:r>
          </a:p>
          <a:p>
            <a:pPr>
              <a:spcBef>
                <a:spcPts val="6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creator: ObjectId (Refers back to contributing User)</a:t>
            </a:r>
          </a:p>
          <a:p>
            <a:pPr>
              <a:spcBef>
                <a:spcPts val="600"/>
              </a:spcBef>
              <a:defRPr sz="1500" b="1">
                <a:solidFill>
                  <a:srgbClr val="F3F1FE"/>
                </a:solidFill>
                <a:latin typeface="Calibri"/>
              </a:defRPr>
            </a:pPr>
            <a:r>
              <a:t>• downloads: Number (Stat tracker counter for copy events)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C4899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Arial"/>
              </a:defRPr>
            </a:pPr>
            <a:r>
              <a:t>Secure Authentication &amp; 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Password Hashing (BCrypt): </a:t>
            </a:r>
            <a:r>
              <a:rPr>
                <a:solidFill>
                  <a:srgbClr val="9F9BBF"/>
                </a:solidFill>
              </a:rPr>
              <a:t>User passwords are encrypted before database insertion using genSalt and hash. The raw password is never stored or compared in plain text.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Session Management: </a:t>
            </a:r>
            <a:r>
              <a:rPr>
                <a:solidFill>
                  <a:srgbClr val="9F9BBF"/>
                </a:solidFill>
              </a:rPr>
              <a:t>Implemented stateful express-session middleware. Sessions are securely signed with a cryptographic secret key.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Persistent Session Store (MongoStore): </a:t>
            </a:r>
            <a:r>
              <a:rPr>
                <a:solidFill>
                  <a:srgbClr val="9F9BBF"/>
                </a:solidFill>
              </a:rPr>
              <a:t>Instead of using leaky in-memory stores, session states are written to the MongoDB sessions collection, ensuring logins persist across server restarts.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Security Cookies: </a:t>
            </a:r>
            <a:r>
              <a:rPr>
                <a:solidFill>
                  <a:srgbClr val="9F9BBF"/>
                </a:solidFill>
              </a:rPr>
              <a:t>Cookies are configured with httpOnly: true to prevent cross-site scripting (XSS) client-side access. Session timeouts are set to expire automatically in 24 hours.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Session Check &amp; Protected API Routes: </a:t>
            </a:r>
            <a:r>
              <a:rPr>
                <a:solidFill>
                  <a:srgbClr val="9F9BBF"/>
                </a:solidFill>
              </a:rPr>
              <a:t>A validation middleware requireAuth intercepts asset submission and favoriting requests, returning a 401 Unauthorized status if the active session ID is missing or invalid.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C4899"/>
                </a:solidFill>
                <a:latin typeface="Calibri"/>
              </a:defRPr>
            </a:pPr>
            <a:r>
              <a:t>OFFLINE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Arial"/>
              </a:defRPr>
            </a:pPr>
            <a:r>
              <a:t>PWA &amp; Offline-First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A855F7"/>
                </a:solidFill>
              </a:rPr>
              <a:t>Web App Manifest (manifest.json): </a:t>
            </a:r>
            <a:r>
              <a:rPr>
                <a:solidFill>
                  <a:srgbClr val="9F9BBF"/>
                </a:solidFill>
              </a:rPr>
              <a:t>Defines the app's standalone desktop/mobile UI metadata, background color, start URL, and lists high-res maskable icon files (192px and 512px).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A855F7"/>
                </a:solidFill>
              </a:rPr>
              <a:t>Service Worker Registration (pwa.js): </a:t>
            </a:r>
            <a:r>
              <a:rPr>
                <a:solidFill>
                  <a:srgbClr val="9F9BBF"/>
                </a:solidFill>
              </a:rPr>
              <a:t>Registers the background worker thread on browser startup, handles system offline state triggers, and renders a glowing banner to inform the user of offline status.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A855F7"/>
                </a:solidFill>
              </a:rPr>
              <a:t>Cache Lifecycle Installation (sw.js): </a:t>
            </a:r>
            <a:r>
              <a:rPr>
                <a:solidFill>
                  <a:srgbClr val="9F9BBF"/>
                </a:solidFill>
              </a:rPr>
              <a:t>Pre-caches static application assets (HTML, CSS, JS, manifest, icons, and Bootstrap/FontAwesome CDN libraries) upon install, creating an instantly-loading app shell.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A855F7"/>
                </a:solidFill>
              </a:rPr>
              <a:t>Caching Interception Strategy: </a:t>
            </a:r>
            <a:r>
              <a:rPr>
                <a:solidFill>
                  <a:srgbClr val="9F9BBF"/>
                </a:solidFill>
              </a:rPr>
              <a:t>Implements a custom fetch caching listener. Static assets are retrieved utilizing a Cache-First approach for speed, while API endpoints default to Network-Only with an offline JSON fallback.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A855F7"/>
                </a:solidFill>
              </a:rPr>
              <a:t>Offline Experience: </a:t>
            </a:r>
            <a:r>
              <a:rPr>
                <a:solidFill>
                  <a:srgbClr val="9F9BBF"/>
                </a:solidFill>
              </a:rPr>
              <a:t>Users can disconnect from the internet and still launch AURA, browse cached code blocks, and read previously fetched CSS components seamlessly.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C4899"/>
                </a:solidFill>
                <a:latin typeface="Calibri"/>
              </a:defRPr>
            </a:pPr>
            <a:r>
              <a:t>SECURITY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Arial"/>
              </a:defRPr>
            </a:pPr>
            <a:r>
              <a:t>OWASP Top-10 Defenses &amp; Protections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HTTP Security Headers (Helmet): </a:t>
            </a:r>
            <a:r>
              <a:rPr>
                <a:solidFill>
                  <a:srgbClr val="9F9BBF"/>
                </a:solidFill>
              </a:rPr>
              <a:t>Express utilizes Helmet to set secure response headers, disabling power leaks (X-Powered-By) and restricting Content Security Policies (CSP) to allow only verified CDNs.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NoSQL Query Injection Prevention (express-mongo-sanitize): </a:t>
            </a:r>
            <a:r>
              <a:rPr>
                <a:solidFill>
                  <a:srgbClr val="9F9BBF"/>
                </a:solidFill>
              </a:rPr>
              <a:t>Sanitizes user input properties by recursively stripping symbols like '$' and '.' to prevent query modification attacks on MongoDB.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Cross-Site Scripting (XSS) Defenses (xss-clean): </a:t>
            </a:r>
            <a:r>
              <a:rPr>
                <a:solidFill>
                  <a:srgbClr val="9F9BBF"/>
                </a:solidFill>
              </a:rPr>
              <a:t>Sanitizes request body parameters, queries, and parameters to filter out malicious HTML/script injections, neutralizing DOM manipulation attempts.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API Rate Limiting &amp; Brute-Force Blocker (express-rate-limit): </a:t>
            </a:r>
            <a:r>
              <a:rPr>
                <a:solidFill>
                  <a:srgbClr val="9F9BBF"/>
                </a:solidFill>
              </a:rPr>
              <a:t>Sets maximum requests per IP window. Protects authentication paths (/api/auth/login) with a tighter rate limit (30 requests/15m) to stop automated brute-force attacks.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Request Size Limiting: </a:t>
            </a:r>
            <a:r>
              <a:rPr>
                <a:solidFill>
                  <a:srgbClr val="9F9BBF"/>
                </a:solidFill>
              </a:rPr>
              <a:t>Body parsers restrict JSON and URL payload parameters to 10kb maximum to mitigate Denial of Service (DoS) memory exhaustion vectors.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C4899"/>
                </a:solidFill>
                <a:latin typeface="Calibri"/>
              </a:defRPr>
            </a:pPr>
            <a: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Arial"/>
              </a:defRPr>
            </a:pPr>
            <a:r>
              <a:t>Quality Assurance: Unit &amp; API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A855F7"/>
                </a:solidFill>
              </a:rPr>
              <a:t>Testing Suite (Jest &amp; Supertest): </a:t>
            </a:r>
            <a:r>
              <a:rPr>
                <a:solidFill>
                  <a:srgbClr val="9F9BBF"/>
                </a:solidFill>
              </a:rPr>
              <a:t>Leverages Jest test runner along with Supertest to spin up ephemeral Express server routes and query endpoints without bindings to active ports.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A855F7"/>
                </a:solidFill>
              </a:rPr>
              <a:t>Schema Validation Assertions: </a:t>
            </a:r>
            <a:r>
              <a:rPr>
                <a:solidFill>
                  <a:srgbClr val="9F9BBF"/>
                </a:solidFill>
              </a:rPr>
              <a:t>Tests User registration constraints (username minimum length, email validation regex, duplicate checking) and verifies mongoose schema violations return correct error lists.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A855F7"/>
                </a:solidFill>
              </a:rPr>
              <a:t>API Endpoint Tests: </a:t>
            </a:r>
            <a:r>
              <a:rPr>
                <a:solidFill>
                  <a:srgbClr val="9F9BBF"/>
                </a:solidFill>
              </a:rPr>
              <a:t>Validates authorization states: GET /api/assets should load for anyone, but POST /api/assets (asset submission) must fail with a 415/401 status code if the user is unauthenticated.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A855F7"/>
                </a:solidFill>
              </a:rPr>
              <a:t>Database Isolation: </a:t>
            </a:r>
            <a:r>
              <a:rPr>
                <a:solidFill>
                  <a:srgbClr val="9F9BBF"/>
                </a:solidFill>
              </a:rPr>
              <a:t>Configures isolated test hooks (beforeAll, afterAll) to connect to the database, seed test documents, clean state variables, and disconnect gracefully after validation completes.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A855F7"/>
                </a:solidFill>
              </a:rPr>
              <a:t>Continuous Integration Ready: </a:t>
            </a:r>
            <a:r>
              <a:rPr>
                <a:solidFill>
                  <a:srgbClr val="9F9BBF"/>
                </a:solidFill>
              </a:rPr>
              <a:t>Defines clean NPM test scripts running Jest in single-band detection mode for immediate pipeline alignment.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C4899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Arial"/>
              </a:defRPr>
            </a:pPr>
            <a:r>
              <a:t>Interactive System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Step 1: Start Database &amp; Server — </a:t>
            </a:r>
            <a:r>
              <a:rPr>
                <a:solidFill>
                  <a:srgbClr val="9F9BBF"/>
                </a:solidFill>
              </a:rPr>
              <a:t>Ensure MongoDB is running, then run `npm start` to spin up the local server on http://localhost:3000.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Step 2: Guest Experience — </a:t>
            </a:r>
            <a:r>
              <a:rPr>
                <a:solidFill>
                  <a:srgbClr val="9F9BBF"/>
                </a:solidFill>
              </a:rPr>
              <a:t>Browse the catalog dashboard, search for keyword '#glassmorphism', toggle categories (CSS, SASS), copy source codes, and observe the download count incrementing.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Step 3: User Authentication — </a:t>
            </a:r>
            <a:r>
              <a:rPr>
                <a:solidFill>
                  <a:srgbClr val="9F9BBF"/>
                </a:solidFill>
              </a:rPr>
              <a:t>Navigate to registration, enter credentials, and create an account. Watch the UI immediately update the navbar options and greet the user.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Step 4: Contribute to Catalog — </a:t>
            </a:r>
            <a:r>
              <a:rPr>
                <a:solidFill>
                  <a:srgbClr val="9F9BBF"/>
                </a:solidFill>
              </a:rPr>
              <a:t>Go to the Asset Submission form, enter details for a custom neon glass-button styling, input tags, and hit Publish. View it load immediately at the top of the home page.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Step 5: Secure Deletion Flow — </a:t>
            </a:r>
            <a:r>
              <a:rPr>
                <a:solidFill>
                  <a:srgbClr val="9F9BBF"/>
                </a:solidFill>
              </a:rPr>
              <a:t>Confirm that only the author gets a red Trash icon on their own assets. Click delete, accept the confirm alert, and watch the card disappear as the database cleans it up.</a:t>
            </a:r>
          </a:p>
          <a:p>
            <a:pPr>
              <a:spcAft>
                <a:spcPts val="1000"/>
              </a:spcAft>
              <a:defRPr sz="1800"/>
            </a:pPr>
            <a:r>
              <a:rPr b="1">
                <a:solidFill>
                  <a:srgbClr val="EC4899"/>
                </a:solidFill>
              </a:rPr>
              <a:t>Step 6: Curate Dashboard &amp; Offline Mode — </a:t>
            </a:r>
            <a:r>
              <a:rPr>
                <a:solidFill>
                  <a:srgbClr val="9F9BBF"/>
                </a:solidFill>
              </a:rPr>
              <a:t>Favorite other assets to populate your dashboard, then simulate offline mode in DevTools to confirm cached assets load instantly without network connection.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